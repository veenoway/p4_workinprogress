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 Black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Black-bold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Black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30a510f18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30a510f18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d30a510f18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d30a510f18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30a510f18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30a510f18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30a510f18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30a510f18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d30a510f18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d30a510f18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d30a510f18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d30a510f18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988150" y="164800"/>
            <a:ext cx="6801900" cy="85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480">
                <a:latin typeface="Roboto Black"/>
                <a:ea typeface="Roboto Black"/>
                <a:cs typeface="Roboto Black"/>
                <a:sym typeface="Roboto Black"/>
              </a:rPr>
              <a:t>comparatif d’optimisation</a:t>
            </a:r>
            <a:r>
              <a:rPr lang="fr" sz="3800"/>
              <a:t> </a:t>
            </a:r>
            <a:endParaRPr sz="3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4125" y="1503126"/>
            <a:ext cx="7840200" cy="22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3225" lvl="0" marL="457200" rtl="0" algn="ctr">
              <a:spcBef>
                <a:spcPts val="0"/>
              </a:spcBef>
              <a:spcAft>
                <a:spcPts val="0"/>
              </a:spcAft>
              <a:buSzPts val="2750"/>
              <a:buAutoNum type="arabicPeriod"/>
            </a:pPr>
            <a:r>
              <a:rPr lang="fr" sz="2750">
                <a:solidFill>
                  <a:srgbClr val="F3F3F3"/>
                </a:solidFill>
              </a:rPr>
              <a:t>Comparaison à l’aide de l’outils google : </a:t>
            </a:r>
            <a:r>
              <a:rPr lang="fr" sz="2750">
                <a:solidFill>
                  <a:srgbClr val="FFE599"/>
                </a:solidFill>
              </a:rPr>
              <a:t>PageSpeed Insights</a:t>
            </a:r>
            <a:endParaRPr sz="2750">
              <a:solidFill>
                <a:srgbClr val="FFE5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87025" y="84900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Version original :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 flipH="1">
            <a:off x="134700" y="993750"/>
            <a:ext cx="2556900" cy="40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D9D9D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508">
                <a:solidFill>
                  <a:schemeClr val="dk1"/>
                </a:solidFill>
              </a:rPr>
              <a:t>Le site web </a:t>
            </a:r>
            <a:r>
              <a:rPr lang="fr" sz="1508">
                <a:solidFill>
                  <a:schemeClr val="dk1"/>
                </a:solidFill>
              </a:rPr>
              <a:t>reçoit</a:t>
            </a:r>
            <a:r>
              <a:rPr lang="fr" sz="1508">
                <a:solidFill>
                  <a:schemeClr val="dk1"/>
                </a:solidFill>
              </a:rPr>
              <a:t> une note global de chargement de 77%, ce qui indique que nous pouvons effectuer quelques </a:t>
            </a:r>
            <a:r>
              <a:rPr lang="fr" sz="1508">
                <a:solidFill>
                  <a:schemeClr val="dk1"/>
                </a:solidFill>
              </a:rPr>
              <a:t>améliorations</a:t>
            </a:r>
            <a:r>
              <a:rPr lang="fr" sz="1508">
                <a:solidFill>
                  <a:schemeClr val="dk1"/>
                </a:solidFill>
              </a:rPr>
              <a:t> à ce projet afin d’augmenter son temps de chargement.</a:t>
            </a:r>
            <a:endParaRPr sz="15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50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1600" y="823950"/>
            <a:ext cx="6396925" cy="36084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89750" y="1727825"/>
            <a:ext cx="260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171900" y="735750"/>
            <a:ext cx="5830500" cy="183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Opportunités :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171900" y="1722825"/>
            <a:ext cx="2564700" cy="38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solidFill>
                  <a:srgbClr val="F3F3F3"/>
                </a:solidFill>
              </a:rPr>
              <a:t>Nous avons ici quelques recommandations donné par google nous </a:t>
            </a:r>
            <a:r>
              <a:rPr lang="fr">
                <a:solidFill>
                  <a:srgbClr val="F3F3F3"/>
                </a:solidFill>
              </a:rPr>
              <a:t>permettant</a:t>
            </a:r>
            <a:r>
              <a:rPr lang="fr">
                <a:solidFill>
                  <a:srgbClr val="F3F3F3"/>
                </a:solidFill>
              </a:rPr>
              <a:t> d’avoir une meilleur vitesse de chargement à terme.</a:t>
            </a:r>
            <a:endParaRPr>
              <a:solidFill>
                <a:srgbClr val="F3F3F3"/>
              </a:solidFill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1475" y="815500"/>
            <a:ext cx="6157752" cy="3400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11825" y="295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fr" sz="2720"/>
              <a:t>Nouvelle version :</a:t>
            </a:r>
            <a:endParaRPr b="1" sz="272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139825" y="1152475"/>
            <a:ext cx="2077500" cy="37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>
                <a:solidFill>
                  <a:srgbClr val="F3F3F3"/>
                </a:solidFill>
              </a:rPr>
              <a:t>Une fois les modifications </a:t>
            </a:r>
            <a:r>
              <a:rPr lang="fr">
                <a:solidFill>
                  <a:srgbClr val="F3F3F3"/>
                </a:solidFill>
              </a:rPr>
              <a:t>effectuées</a:t>
            </a:r>
            <a:r>
              <a:rPr lang="fr">
                <a:solidFill>
                  <a:srgbClr val="F3F3F3"/>
                </a:solidFill>
              </a:rPr>
              <a:t>, le résultat que nous indique l’outils google “ PageSpeed Insights” est maintenant de 97%</a:t>
            </a:r>
            <a:endParaRPr>
              <a:solidFill>
                <a:srgbClr val="F3F3F3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2575" y="1192900"/>
            <a:ext cx="6766726" cy="371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171900" y="130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Opportunités :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2744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Nous avons </a:t>
            </a:r>
            <a:r>
              <a:rPr lang="fr"/>
              <a:t>réussi</a:t>
            </a:r>
            <a:r>
              <a:rPr lang="fr"/>
              <a:t> à économiser plus de 20 secondes lors du chargement de notre page web ! 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1025" y="818525"/>
            <a:ext cx="5840576" cy="376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86725" y="195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 Comparaison de l’accessibilité à l’aide de l’outils Wave :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56650" y="768025"/>
            <a:ext cx="2729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 sz="2100">
                <a:solidFill>
                  <a:srgbClr val="FFE599"/>
                </a:solidFill>
              </a:rPr>
              <a:t>Version Original : </a:t>
            </a:r>
            <a:endParaRPr sz="2100">
              <a:solidFill>
                <a:srgbClr val="FFE599"/>
              </a:solidFill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4400" y="1393250"/>
            <a:ext cx="6782924" cy="35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400" y="1508100"/>
            <a:ext cx="1369325" cy="346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80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920">
                <a:solidFill>
                  <a:srgbClr val="FFE599"/>
                </a:solidFill>
              </a:rPr>
              <a:t>Nouvelle version :</a:t>
            </a:r>
            <a:endParaRPr sz="2920">
              <a:solidFill>
                <a:srgbClr val="FFE599"/>
              </a:solidFill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4129775" y="1503100"/>
            <a:ext cx="4702500" cy="30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575" y="960212"/>
            <a:ext cx="6730824" cy="3765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425" y="888388"/>
            <a:ext cx="1530250" cy="390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